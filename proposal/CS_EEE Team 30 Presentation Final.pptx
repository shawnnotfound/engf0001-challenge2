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Play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kpZTxourTroSXBauJsZ7QYb7Y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bold.fntdata"/><Relationship Id="rId12" Type="http://schemas.openxmlformats.org/officeDocument/2006/relationships/font" Target="fonts/Play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lucid.app/lucidchart/54f00117-e9ec-4e4e-b3e8-fe2c9ddb3385/edit?viewport_loc=-507%2C-135%2C3607%2C1778%2C0_0&amp;invitationId=inv_1e61fa32-f2b5-470f-897b-0d43d9cc37e0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d72077655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d72077655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63cedc9437eb49dd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63cedc9437eb49dd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https://lucid.app/lucidchart/54f00117-e9ec-4e4e-b3e8-fe2c9ddb3385/edit?viewport_loc=-507%2C-135%2C3607%2C1778%2C0_0&amp;invitationId=inv_1e61fa32-f2b5-470f-897b-0d43d9cc37e0</a:t>
            </a:r>
            <a:r>
              <a:rPr lang="en-US"/>
              <a:t> </a:t>
            </a:r>
            <a:br>
              <a:rPr lang="en-US"/>
            </a:br>
            <a:r>
              <a:rPr lang="en-US"/>
              <a:t>For editing the diagram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59c52f1628245433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59c52f162824543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a2faef91665cd78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a2faef91665cd7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d73406f1c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9d73406f1c_6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d6685b5a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d6685b5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d73406f1c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9d73406f1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gif"/><Relationship Id="rId5" Type="http://schemas.openxmlformats.org/officeDocument/2006/relationships/hyperlink" Target="https://www.equilibar.com/application/bioreactor-headspace-pressure-control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1.jp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d72077655_1_5"/>
          <p:cNvSpPr txBox="1"/>
          <p:nvPr>
            <p:ph type="title"/>
          </p:nvPr>
        </p:nvSpPr>
        <p:spPr>
          <a:xfrm>
            <a:off x="977175" y="-11610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Bioreactor Team Proposal - </a:t>
            </a:r>
            <a:r>
              <a:rPr lang="en-US"/>
              <a:t>Context </a:t>
            </a:r>
            <a:endParaRPr/>
          </a:p>
        </p:txBody>
      </p:sp>
      <p:pic>
        <p:nvPicPr>
          <p:cNvPr id="85" name="Google Shape;85;g39d72077655_1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5326" y="2428424"/>
            <a:ext cx="4243809" cy="363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9d72077655_1_5"/>
          <p:cNvSpPr txBox="1"/>
          <p:nvPr/>
        </p:nvSpPr>
        <p:spPr>
          <a:xfrm>
            <a:off x="10002095" y="2428424"/>
            <a:ext cx="27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hlink"/>
                </a:solidFill>
                <a:hlinkClick r:id="rId5"/>
              </a:rPr>
              <a:t>Equilibar, 2025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7" name="Google Shape;87;g39d72077655_1_5"/>
          <p:cNvSpPr txBox="1"/>
          <p:nvPr/>
        </p:nvSpPr>
        <p:spPr>
          <a:xfrm>
            <a:off x="986825" y="2596136"/>
            <a:ext cx="57885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Control Specifications:</a:t>
            </a:r>
            <a:endParaRPr sz="2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Char char="●"/>
            </a:pPr>
            <a:r>
              <a:rPr lang="en-US" sz="21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Temperature</a:t>
            </a:r>
            <a:r>
              <a:rPr lang="en-US" sz="21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: 25-35</a:t>
            </a:r>
            <a:r>
              <a:rPr lang="en-US" sz="2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°C (</a:t>
            </a:r>
            <a:r>
              <a:rPr lang="en-US" sz="2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±0.5°C tolerance)</a:t>
            </a:r>
            <a:endParaRPr sz="2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Char char="●"/>
            </a:pPr>
            <a:r>
              <a:rPr lang="en-US" sz="2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Stirring: 500-1500 RPM (±20 tolerance)</a:t>
            </a:r>
            <a:endParaRPr sz="2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Char char="●"/>
            </a:pPr>
            <a:r>
              <a:rPr lang="en-US" sz="2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pH: 3-7 range (optimal ~5 for vaccine cultures)</a:t>
            </a:r>
            <a:endParaRPr sz="2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8" name="Google Shape;88;g39d72077655_1_5"/>
          <p:cNvSpPr txBox="1"/>
          <p:nvPr/>
        </p:nvSpPr>
        <p:spPr>
          <a:xfrm>
            <a:off x="865200" y="863425"/>
            <a:ext cx="11326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Project Challenge: Design a connected bioreactor control system that maintains critical parameters within specification. BCG production in low-resource settings relies heavily on precise bioreactor control, even small </a:t>
            </a:r>
            <a:r>
              <a:rPr lang="en-US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parameter</a:t>
            </a:r>
            <a:r>
              <a:rPr lang="en-US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deviations can compromise vaccine </a:t>
            </a:r>
            <a:r>
              <a:rPr lang="en-US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efficacy</a:t>
            </a:r>
            <a:r>
              <a:rPr lang="en-US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and waste critical resources.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9" name="Google Shape;89;g39d72077655_1_5"/>
          <p:cNvSpPr txBox="1"/>
          <p:nvPr/>
        </p:nvSpPr>
        <p:spPr>
          <a:xfrm>
            <a:off x="7120350" y="5891475"/>
            <a:ext cx="4449900" cy="10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Industrial-scale bioreactors require </a:t>
            </a:r>
            <a:r>
              <a:rPr lang="en-US" sz="1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sophisticated</a:t>
            </a:r>
            <a:r>
              <a:rPr lang="en-US" sz="1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control systems. Our small-scale testbed replicates the core challenges using low-cost, low-power microcontrollers and </a:t>
            </a:r>
            <a:r>
              <a:rPr lang="en-US" sz="1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sensors</a:t>
            </a:r>
            <a:r>
              <a:rPr lang="en-US" sz="1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to achieve comparable precision </a:t>
            </a:r>
            <a:endParaRPr sz="1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0" name="Google Shape;90;g39d72077655_1_5"/>
          <p:cNvSpPr txBox="1"/>
          <p:nvPr/>
        </p:nvSpPr>
        <p:spPr>
          <a:xfrm>
            <a:off x="1028825" y="4544250"/>
            <a:ext cx="57045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Success Metric</a:t>
            </a:r>
            <a:r>
              <a:rPr lang="en-US" sz="2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:</a:t>
            </a:r>
            <a:endParaRPr sz="2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Demonstrate stable operation within specification tolerances over extended test periods, with remote parameter adjustment with automated anomaly detection.</a:t>
            </a:r>
            <a:endParaRPr sz="2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63cedc9437eb49dd_0"/>
          <p:cNvSpPr txBox="1"/>
          <p:nvPr>
            <p:ph type="title"/>
          </p:nvPr>
        </p:nvSpPr>
        <p:spPr>
          <a:xfrm>
            <a:off x="936600" y="-6760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Overall Diagram</a:t>
            </a:r>
            <a:endParaRPr/>
          </a:p>
        </p:txBody>
      </p:sp>
      <p:sp>
        <p:nvSpPr>
          <p:cNvPr id="96" name="Google Shape;96;g63cedc9437eb49dd_0"/>
          <p:cNvSpPr txBox="1"/>
          <p:nvPr/>
        </p:nvSpPr>
        <p:spPr>
          <a:xfrm>
            <a:off x="1466850" y="6115050"/>
            <a:ext cx="3236700" cy="5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97" name="Google Shape;97;g63cedc9437eb49dd_0"/>
          <p:cNvSpPr txBox="1"/>
          <p:nvPr/>
        </p:nvSpPr>
        <p:spPr>
          <a:xfrm>
            <a:off x="-639350" y="6097250"/>
            <a:ext cx="2048700" cy="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98" name="Google Shape;98;g63cedc9437eb49dd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300" y="540900"/>
            <a:ext cx="11245727" cy="557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59c52f1628245433_1"/>
          <p:cNvSpPr txBox="1"/>
          <p:nvPr>
            <p:ph type="title"/>
          </p:nvPr>
        </p:nvSpPr>
        <p:spPr>
          <a:xfrm>
            <a:off x="911475" y="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Connectivity and UI</a:t>
            </a:r>
            <a:endParaRPr/>
          </a:p>
        </p:txBody>
      </p:sp>
      <p:sp>
        <p:nvSpPr>
          <p:cNvPr id="104" name="Google Shape;104;g59c52f1628245433_1"/>
          <p:cNvSpPr txBox="1"/>
          <p:nvPr/>
        </p:nvSpPr>
        <p:spPr>
          <a:xfrm>
            <a:off x="7152100" y="1325700"/>
            <a:ext cx="45111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Using Wi-Fi, data from the microcontroller can be accessed via a web interface that:</a:t>
            </a:r>
            <a:endParaRPr sz="13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ay"/>
              <a:buChar char="●"/>
            </a:pPr>
            <a:r>
              <a:rPr lang="en-US" sz="1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Displays live and historical data through interactive graphs.</a:t>
            </a:r>
            <a:endParaRPr sz="13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ay"/>
              <a:buChar char="●"/>
            </a:pPr>
            <a:r>
              <a:rPr lang="en-US" sz="1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Allows users to adjust motor and pump settings remotely.</a:t>
            </a:r>
            <a:endParaRPr sz="13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ay"/>
              <a:buChar char="●"/>
            </a:pPr>
            <a:r>
              <a:rPr lang="en-US" sz="1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Detects and alerts users to system anomalies in real time.</a:t>
            </a:r>
            <a:endParaRPr sz="13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05" name="Google Shape;105;g59c52f1628245433_1"/>
          <p:cNvPicPr preferRelativeResize="0"/>
          <p:nvPr/>
        </p:nvPicPr>
        <p:blipFill rotWithShape="1">
          <a:blip r:embed="rId4">
            <a:alphaModFix/>
          </a:blip>
          <a:srcRect b="17191" l="0" r="0" t="0"/>
          <a:stretch/>
        </p:blipFill>
        <p:spPr>
          <a:xfrm>
            <a:off x="8898025" y="3830050"/>
            <a:ext cx="2842649" cy="248044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59c52f1628245433_1"/>
          <p:cNvSpPr txBox="1"/>
          <p:nvPr/>
        </p:nvSpPr>
        <p:spPr>
          <a:xfrm>
            <a:off x="1211675" y="1389350"/>
            <a:ext cx="5073000" cy="1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Protocols</a:t>
            </a:r>
            <a:r>
              <a:rPr b="1" lang="en-US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used:</a:t>
            </a:r>
            <a:endParaRPr b="1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</a:t>
            </a:r>
            <a:r>
              <a:rPr lang="en-US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erial</a:t>
            </a:r>
            <a:r>
              <a:rPr lang="en-US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connection:</a:t>
            </a:r>
            <a:endParaRPr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UART (Universal Asynchronous Receiver Transmitter) </a:t>
            </a:r>
            <a:endParaRPr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</a:t>
            </a:r>
            <a:r>
              <a:rPr lang="en-US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onnection</a:t>
            </a:r>
            <a:r>
              <a:rPr lang="en-US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to </a:t>
            </a:r>
            <a:r>
              <a:rPr lang="en-US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Wifi</a:t>
            </a:r>
            <a:r>
              <a:rPr lang="en-US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and UI:</a:t>
            </a:r>
            <a:endParaRPr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MQTT (Message Queuing Telemetry Transport)</a:t>
            </a:r>
            <a:endParaRPr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07" name="Google Shape;107;g59c52f1628245433_1" title="Blank diagram (1).png"/>
          <p:cNvPicPr preferRelativeResize="0"/>
          <p:nvPr/>
        </p:nvPicPr>
        <p:blipFill rotWithShape="1">
          <a:blip r:embed="rId5">
            <a:alphaModFix/>
          </a:blip>
          <a:srcRect b="5273" l="0" r="1613" t="5496"/>
          <a:stretch/>
        </p:blipFill>
        <p:spPr>
          <a:xfrm>
            <a:off x="133225" y="3275200"/>
            <a:ext cx="8426826" cy="326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g59c52f1628245433_1"/>
          <p:cNvCxnSpPr/>
          <p:nvPr/>
        </p:nvCxnSpPr>
        <p:spPr>
          <a:xfrm>
            <a:off x="6413375" y="1391450"/>
            <a:ext cx="9600" cy="1686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g59c52f1628245433_1"/>
          <p:cNvSpPr txBox="1"/>
          <p:nvPr/>
        </p:nvSpPr>
        <p:spPr>
          <a:xfrm>
            <a:off x="8898025" y="6310500"/>
            <a:ext cx="2902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UI example</a:t>
            </a:r>
            <a:endParaRPr sz="13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a2faef91665cd78_0"/>
          <p:cNvSpPr/>
          <p:nvPr/>
        </p:nvSpPr>
        <p:spPr>
          <a:xfrm>
            <a:off x="1226550" y="1650900"/>
            <a:ext cx="10095900" cy="520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2a2faef91665cd78_0"/>
          <p:cNvSpPr txBox="1"/>
          <p:nvPr/>
        </p:nvSpPr>
        <p:spPr>
          <a:xfrm>
            <a:off x="936325" y="230050"/>
            <a:ext cx="4375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Data Analysis</a:t>
            </a:r>
            <a:endParaRPr sz="4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6" name="Google Shape;116;g2a2faef91665cd78_0"/>
          <p:cNvSpPr/>
          <p:nvPr/>
        </p:nvSpPr>
        <p:spPr>
          <a:xfrm>
            <a:off x="5073463" y="2235590"/>
            <a:ext cx="1766700" cy="618600"/>
          </a:xfrm>
          <a:prstGeom prst="rect">
            <a:avLst/>
          </a:prstGeom>
          <a:solidFill>
            <a:schemeClr val="dk2"/>
          </a:solidFill>
          <a:ln cap="flat" cmpd="sng" w="7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125" lIns="74125" spcFirstLastPara="1" rIns="74125" wrap="square" tIns="74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5">
                <a:solidFill>
                  <a:schemeClr val="lt1"/>
                </a:solidFill>
              </a:rPr>
              <a:t>Real-time data readings</a:t>
            </a:r>
            <a:endParaRPr sz="1135">
              <a:solidFill>
                <a:schemeClr val="lt1"/>
              </a:solidFill>
            </a:endParaRPr>
          </a:p>
        </p:txBody>
      </p:sp>
      <p:sp>
        <p:nvSpPr>
          <p:cNvPr id="117" name="Google Shape;117;g2a2faef91665cd78_0"/>
          <p:cNvSpPr/>
          <p:nvPr/>
        </p:nvSpPr>
        <p:spPr>
          <a:xfrm>
            <a:off x="2003417" y="3158211"/>
            <a:ext cx="1550100" cy="398400"/>
          </a:xfrm>
          <a:prstGeom prst="rect">
            <a:avLst/>
          </a:prstGeom>
          <a:solidFill>
            <a:srgbClr val="F4CCCC"/>
          </a:solidFill>
          <a:ln cap="flat" cmpd="sng" w="7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125" lIns="74125" spcFirstLastPara="1" rIns="74125" wrap="square" tIns="74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5"/>
              <a:t>Compare with target values </a:t>
            </a:r>
            <a:endParaRPr sz="1135"/>
          </a:p>
        </p:txBody>
      </p:sp>
      <p:sp>
        <p:nvSpPr>
          <p:cNvPr id="118" name="Google Shape;118;g2a2faef91665cd78_0"/>
          <p:cNvSpPr/>
          <p:nvPr/>
        </p:nvSpPr>
        <p:spPr>
          <a:xfrm>
            <a:off x="1812850" y="4780239"/>
            <a:ext cx="1931260" cy="692830"/>
          </a:xfrm>
          <a:prstGeom prst="flowChartDecision">
            <a:avLst/>
          </a:prstGeom>
          <a:solidFill>
            <a:srgbClr val="6D9EEB"/>
          </a:solidFill>
          <a:ln cap="flat" cmpd="sng" w="7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125" lIns="74125" spcFirstLastPara="1" rIns="74125" wrap="square" tIns="74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5"/>
              <a:t>Previous anomaly?</a:t>
            </a:r>
            <a:endParaRPr sz="1135"/>
          </a:p>
        </p:txBody>
      </p:sp>
      <p:sp>
        <p:nvSpPr>
          <p:cNvPr id="119" name="Google Shape;119;g2a2faef91665cd78_0"/>
          <p:cNvSpPr/>
          <p:nvPr/>
        </p:nvSpPr>
        <p:spPr>
          <a:xfrm>
            <a:off x="4436919" y="3654317"/>
            <a:ext cx="2690731" cy="952648"/>
          </a:xfrm>
          <a:prstGeom prst="flowChartDecision">
            <a:avLst/>
          </a:prstGeom>
          <a:solidFill>
            <a:srgbClr val="6D9EEB"/>
          </a:solidFill>
          <a:ln cap="flat" cmpd="sng" w="77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125" lIns="74125" spcFirstLastPara="1" rIns="74125" wrap="square" tIns="74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35"/>
              <a:t>|⍙| &gt; cutoff</a:t>
            </a:r>
            <a:br>
              <a:rPr lang="en-US" sz="1135"/>
            </a:br>
            <a:r>
              <a:rPr lang="en-US" sz="1135"/>
              <a:t>stop bound</a:t>
            </a:r>
            <a:endParaRPr sz="1135"/>
          </a:p>
        </p:txBody>
      </p:sp>
      <p:sp>
        <p:nvSpPr>
          <p:cNvPr id="120" name="Google Shape;120;g2a2faef91665cd78_0"/>
          <p:cNvSpPr/>
          <p:nvPr/>
        </p:nvSpPr>
        <p:spPr>
          <a:xfrm>
            <a:off x="7867196" y="5977829"/>
            <a:ext cx="1463700" cy="398400"/>
          </a:xfrm>
          <a:prstGeom prst="rect">
            <a:avLst/>
          </a:prstGeom>
          <a:solidFill>
            <a:srgbClr val="93C47D"/>
          </a:solidFill>
          <a:ln cap="flat" cmpd="sng" w="7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125" lIns="74125" spcFirstLastPara="1" rIns="74125" wrap="square" tIns="74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5"/>
              <a:t>Normal</a:t>
            </a:r>
            <a:br>
              <a:rPr lang="en-US" sz="1135"/>
            </a:br>
            <a:r>
              <a:rPr lang="en-US" sz="1135"/>
              <a:t>Counter reset to 0</a:t>
            </a:r>
            <a:endParaRPr sz="1135"/>
          </a:p>
        </p:txBody>
      </p:sp>
      <p:sp>
        <p:nvSpPr>
          <p:cNvPr id="121" name="Google Shape;121;g2a2faef91665cd78_0"/>
          <p:cNvSpPr/>
          <p:nvPr/>
        </p:nvSpPr>
        <p:spPr>
          <a:xfrm>
            <a:off x="7850771" y="2840066"/>
            <a:ext cx="1766700" cy="561600"/>
          </a:xfrm>
          <a:prstGeom prst="rect">
            <a:avLst/>
          </a:prstGeom>
          <a:solidFill>
            <a:srgbClr val="A2C4C9"/>
          </a:solidFill>
          <a:ln cap="flat" cmpd="sng" w="7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125" lIns="74125" spcFirstLastPara="1" rIns="74125" wrap="square" tIns="74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5"/>
              <a:t>Confirm Anomaly</a:t>
            </a:r>
            <a:endParaRPr sz="1135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5"/>
              <a:t>Provide instructions</a:t>
            </a:r>
            <a:endParaRPr sz="1135"/>
          </a:p>
        </p:txBody>
      </p:sp>
      <p:sp>
        <p:nvSpPr>
          <p:cNvPr id="122" name="Google Shape;122;g2a2faef91665cd78_0"/>
          <p:cNvSpPr/>
          <p:nvPr/>
        </p:nvSpPr>
        <p:spPr>
          <a:xfrm>
            <a:off x="8158178" y="4897105"/>
            <a:ext cx="1152000" cy="372600"/>
          </a:xfrm>
          <a:prstGeom prst="rect">
            <a:avLst/>
          </a:prstGeom>
          <a:solidFill>
            <a:srgbClr val="EA9999"/>
          </a:solidFill>
          <a:ln cap="flat" cmpd="sng" w="7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125" lIns="74125" spcFirstLastPara="1" rIns="74125" wrap="square" tIns="74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5">
                <a:solidFill>
                  <a:schemeClr val="lt1"/>
                </a:solidFill>
              </a:rPr>
              <a:t>Counter +1</a:t>
            </a:r>
            <a:endParaRPr sz="1135">
              <a:solidFill>
                <a:schemeClr val="lt1"/>
              </a:solidFill>
            </a:endParaRPr>
          </a:p>
        </p:txBody>
      </p:sp>
      <p:cxnSp>
        <p:nvCxnSpPr>
          <p:cNvPr id="123" name="Google Shape;123;g2a2faef91665cd78_0"/>
          <p:cNvCxnSpPr>
            <a:stCxn id="118" idx="3"/>
            <a:endCxn id="124" idx="1"/>
          </p:cNvCxnSpPr>
          <p:nvPr/>
        </p:nvCxnSpPr>
        <p:spPr>
          <a:xfrm>
            <a:off x="3744109" y="5126653"/>
            <a:ext cx="692700" cy="1050300"/>
          </a:xfrm>
          <a:prstGeom prst="straightConnector1">
            <a:avLst/>
          </a:prstGeom>
          <a:noFill/>
          <a:ln cap="flat" cmpd="sng" w="77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g2a2faef91665cd78_0"/>
          <p:cNvCxnSpPr>
            <a:stCxn id="118" idx="3"/>
            <a:endCxn id="119" idx="1"/>
          </p:cNvCxnSpPr>
          <p:nvPr/>
        </p:nvCxnSpPr>
        <p:spPr>
          <a:xfrm flipH="1" rot="10800000">
            <a:off x="3744109" y="4130653"/>
            <a:ext cx="692700" cy="996000"/>
          </a:xfrm>
          <a:prstGeom prst="straightConnector1">
            <a:avLst/>
          </a:prstGeom>
          <a:noFill/>
          <a:ln cap="flat" cmpd="sng" w="77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g2a2faef91665cd78_0"/>
          <p:cNvCxnSpPr>
            <a:stCxn id="119" idx="3"/>
            <a:endCxn id="127" idx="1"/>
          </p:cNvCxnSpPr>
          <p:nvPr/>
        </p:nvCxnSpPr>
        <p:spPr>
          <a:xfrm>
            <a:off x="7127650" y="4130641"/>
            <a:ext cx="874500" cy="0"/>
          </a:xfrm>
          <a:prstGeom prst="straightConnector1">
            <a:avLst/>
          </a:prstGeom>
          <a:noFill/>
          <a:ln cap="flat" cmpd="sng" w="77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g2a2faef91665cd78_0"/>
          <p:cNvCxnSpPr>
            <a:stCxn id="127" idx="2"/>
            <a:endCxn id="122" idx="0"/>
          </p:cNvCxnSpPr>
          <p:nvPr/>
        </p:nvCxnSpPr>
        <p:spPr>
          <a:xfrm>
            <a:off x="8734178" y="4329805"/>
            <a:ext cx="0" cy="567300"/>
          </a:xfrm>
          <a:prstGeom prst="straightConnector1">
            <a:avLst/>
          </a:prstGeom>
          <a:noFill/>
          <a:ln cap="flat" cmpd="sng" w="77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g2a2faef91665cd78_0"/>
          <p:cNvCxnSpPr>
            <a:stCxn id="124" idx="3"/>
            <a:endCxn id="120" idx="1"/>
          </p:cNvCxnSpPr>
          <p:nvPr/>
        </p:nvCxnSpPr>
        <p:spPr>
          <a:xfrm>
            <a:off x="7127662" y="6177016"/>
            <a:ext cx="739500" cy="0"/>
          </a:xfrm>
          <a:prstGeom prst="straightConnector1">
            <a:avLst/>
          </a:prstGeom>
          <a:noFill/>
          <a:ln cap="flat" cmpd="sng" w="77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g2a2faef91665cd78_0"/>
          <p:cNvCxnSpPr>
            <a:stCxn id="120" idx="3"/>
          </p:cNvCxnSpPr>
          <p:nvPr/>
        </p:nvCxnSpPr>
        <p:spPr>
          <a:xfrm flipH="1" rot="10800000">
            <a:off x="9330896" y="2546429"/>
            <a:ext cx="1223100" cy="3630600"/>
          </a:xfrm>
          <a:prstGeom prst="bentConnector2">
            <a:avLst/>
          </a:prstGeom>
          <a:noFill/>
          <a:ln cap="flat" cmpd="sng" w="77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g2a2faef91665cd78_0"/>
          <p:cNvCxnSpPr>
            <a:stCxn id="124" idx="3"/>
            <a:endCxn id="127" idx="1"/>
          </p:cNvCxnSpPr>
          <p:nvPr/>
        </p:nvCxnSpPr>
        <p:spPr>
          <a:xfrm flipH="1" rot="10800000">
            <a:off x="7127662" y="4130716"/>
            <a:ext cx="874500" cy="2046300"/>
          </a:xfrm>
          <a:prstGeom prst="straightConnector1">
            <a:avLst/>
          </a:prstGeom>
          <a:noFill/>
          <a:ln cap="flat" cmpd="sng" w="77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g2a2faef91665cd78_0"/>
          <p:cNvCxnSpPr>
            <a:stCxn id="117" idx="2"/>
            <a:endCxn id="118" idx="0"/>
          </p:cNvCxnSpPr>
          <p:nvPr/>
        </p:nvCxnSpPr>
        <p:spPr>
          <a:xfrm flipH="1" rot="-5400000">
            <a:off x="2166917" y="4168161"/>
            <a:ext cx="1223700" cy="600"/>
          </a:xfrm>
          <a:prstGeom prst="bentConnector3">
            <a:avLst>
              <a:gd fmla="val 49997" name="adj1"/>
            </a:avLst>
          </a:prstGeom>
          <a:noFill/>
          <a:ln cap="flat" cmpd="sng" w="77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g2a2faef91665cd78_0"/>
          <p:cNvCxnSpPr>
            <a:stCxn id="119" idx="3"/>
            <a:endCxn id="120" idx="1"/>
          </p:cNvCxnSpPr>
          <p:nvPr/>
        </p:nvCxnSpPr>
        <p:spPr>
          <a:xfrm>
            <a:off x="7127650" y="4130641"/>
            <a:ext cx="739500" cy="2046300"/>
          </a:xfrm>
          <a:prstGeom prst="straightConnector1">
            <a:avLst/>
          </a:prstGeom>
          <a:noFill/>
          <a:ln cap="flat" cmpd="sng" w="77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g2a2faef91665cd78_0"/>
          <p:cNvCxnSpPr>
            <a:stCxn id="122" idx="3"/>
          </p:cNvCxnSpPr>
          <p:nvPr/>
        </p:nvCxnSpPr>
        <p:spPr>
          <a:xfrm>
            <a:off x="9310178" y="5083405"/>
            <a:ext cx="1236900" cy="0"/>
          </a:xfrm>
          <a:prstGeom prst="straightConnector1">
            <a:avLst/>
          </a:prstGeom>
          <a:noFill/>
          <a:ln cap="flat" cmpd="sng" w="77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g2a2faef91665cd78_0"/>
          <p:cNvCxnSpPr>
            <a:endCxn id="136" idx="2"/>
          </p:cNvCxnSpPr>
          <p:nvPr/>
        </p:nvCxnSpPr>
        <p:spPr>
          <a:xfrm rot="10800000">
            <a:off x="9181671" y="1344649"/>
            <a:ext cx="0" cy="1505400"/>
          </a:xfrm>
          <a:prstGeom prst="straightConnector1">
            <a:avLst/>
          </a:prstGeom>
          <a:noFill/>
          <a:ln cap="flat" cmpd="sng" w="77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" name="Google Shape;137;g2a2faef91665cd78_0"/>
          <p:cNvSpPr txBox="1"/>
          <p:nvPr/>
        </p:nvSpPr>
        <p:spPr>
          <a:xfrm>
            <a:off x="7345362" y="6410900"/>
            <a:ext cx="4827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74125" lIns="74125" spcFirstLastPara="1" rIns="74125" wrap="square" tIns="7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16">
                <a:solidFill>
                  <a:schemeClr val="dk1"/>
                </a:solidFill>
              </a:rPr>
              <a:t>No</a:t>
            </a:r>
            <a:endParaRPr sz="972">
              <a:solidFill>
                <a:schemeClr val="dk1"/>
              </a:solidFill>
            </a:endParaRPr>
          </a:p>
        </p:txBody>
      </p:sp>
      <p:sp>
        <p:nvSpPr>
          <p:cNvPr id="138" name="Google Shape;138;g2a2faef91665cd78_0"/>
          <p:cNvSpPr txBox="1"/>
          <p:nvPr/>
        </p:nvSpPr>
        <p:spPr>
          <a:xfrm>
            <a:off x="6875320" y="5665961"/>
            <a:ext cx="56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4125" lIns="74125" spcFirstLastPara="1" rIns="74125" wrap="square" tIns="7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16">
                <a:solidFill>
                  <a:schemeClr val="dk1"/>
                </a:solidFill>
              </a:rPr>
              <a:t>Yes</a:t>
            </a:r>
            <a:endParaRPr sz="972">
              <a:solidFill>
                <a:schemeClr val="dk1"/>
              </a:solidFill>
            </a:endParaRPr>
          </a:p>
        </p:txBody>
      </p:sp>
      <p:sp>
        <p:nvSpPr>
          <p:cNvPr id="139" name="Google Shape;139;g2a2faef91665cd78_0"/>
          <p:cNvSpPr txBox="1"/>
          <p:nvPr/>
        </p:nvSpPr>
        <p:spPr>
          <a:xfrm>
            <a:off x="6840215" y="4564787"/>
            <a:ext cx="4827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74125" lIns="74125" spcFirstLastPara="1" rIns="74125" wrap="square" tIns="7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16">
                <a:solidFill>
                  <a:schemeClr val="dk1"/>
                </a:solidFill>
              </a:rPr>
              <a:t>No</a:t>
            </a:r>
            <a:endParaRPr sz="972">
              <a:solidFill>
                <a:schemeClr val="dk1"/>
              </a:solidFill>
            </a:endParaRPr>
          </a:p>
        </p:txBody>
      </p:sp>
      <p:sp>
        <p:nvSpPr>
          <p:cNvPr id="140" name="Google Shape;140;g2a2faef91665cd78_0"/>
          <p:cNvSpPr txBox="1"/>
          <p:nvPr/>
        </p:nvSpPr>
        <p:spPr>
          <a:xfrm>
            <a:off x="7323611" y="3784969"/>
            <a:ext cx="48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4125" lIns="74125" spcFirstLastPara="1" rIns="74125" wrap="square" tIns="7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16">
                <a:solidFill>
                  <a:schemeClr val="dk1"/>
                </a:solidFill>
              </a:rPr>
              <a:t>Yes</a:t>
            </a:r>
            <a:endParaRPr sz="121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6">
              <a:solidFill>
                <a:schemeClr val="dk1"/>
              </a:solidFill>
            </a:endParaRPr>
          </a:p>
        </p:txBody>
      </p:sp>
      <p:sp>
        <p:nvSpPr>
          <p:cNvPr id="141" name="Google Shape;141;g2a2faef91665cd78_0"/>
          <p:cNvSpPr txBox="1"/>
          <p:nvPr/>
        </p:nvSpPr>
        <p:spPr>
          <a:xfrm>
            <a:off x="3611646" y="4447312"/>
            <a:ext cx="4827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74125" lIns="74125" spcFirstLastPara="1" rIns="74125" wrap="square" tIns="7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16">
                <a:solidFill>
                  <a:schemeClr val="dk1"/>
                </a:solidFill>
              </a:rPr>
              <a:t>Yes</a:t>
            </a:r>
            <a:endParaRPr sz="972">
              <a:solidFill>
                <a:schemeClr val="dk1"/>
              </a:solidFill>
            </a:endParaRPr>
          </a:p>
        </p:txBody>
      </p:sp>
      <p:sp>
        <p:nvSpPr>
          <p:cNvPr id="142" name="Google Shape;142;g2a2faef91665cd78_0"/>
          <p:cNvSpPr txBox="1"/>
          <p:nvPr/>
        </p:nvSpPr>
        <p:spPr>
          <a:xfrm>
            <a:off x="3604188" y="5736860"/>
            <a:ext cx="3612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74125" lIns="74125" spcFirstLastPara="1" rIns="74125" wrap="square" tIns="7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16">
                <a:solidFill>
                  <a:schemeClr val="dk1"/>
                </a:solidFill>
              </a:rPr>
              <a:t>No</a:t>
            </a:r>
            <a:endParaRPr sz="972">
              <a:solidFill>
                <a:schemeClr val="dk1"/>
              </a:solidFill>
            </a:endParaRPr>
          </a:p>
        </p:txBody>
      </p:sp>
      <p:sp>
        <p:nvSpPr>
          <p:cNvPr id="143" name="Google Shape;143;g2a2faef91665cd78_0"/>
          <p:cNvSpPr txBox="1"/>
          <p:nvPr/>
        </p:nvSpPr>
        <p:spPr>
          <a:xfrm>
            <a:off x="8298313" y="4447353"/>
            <a:ext cx="3612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74125" lIns="74125" spcFirstLastPara="1" rIns="74125" wrap="square" tIns="7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16">
                <a:solidFill>
                  <a:schemeClr val="dk1"/>
                </a:solidFill>
              </a:rPr>
              <a:t>No</a:t>
            </a:r>
            <a:endParaRPr sz="972">
              <a:solidFill>
                <a:schemeClr val="dk1"/>
              </a:solidFill>
            </a:endParaRPr>
          </a:p>
        </p:txBody>
      </p:sp>
      <p:sp>
        <p:nvSpPr>
          <p:cNvPr id="144" name="Google Shape;144;g2a2faef91665cd78_0"/>
          <p:cNvSpPr/>
          <p:nvPr/>
        </p:nvSpPr>
        <p:spPr>
          <a:xfrm>
            <a:off x="5405875" y="698083"/>
            <a:ext cx="1101900" cy="737400"/>
          </a:xfrm>
          <a:prstGeom prst="ellipse">
            <a:avLst/>
          </a:prstGeom>
          <a:solidFill>
            <a:srgbClr val="B4A7D6"/>
          </a:solidFill>
          <a:ln cap="flat" cmpd="sng" w="7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125" lIns="74125" spcFirstLastPara="1" rIns="74125" wrap="square" tIns="74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5"/>
              <a:t>Sensors</a:t>
            </a:r>
            <a:endParaRPr sz="1135"/>
          </a:p>
        </p:txBody>
      </p:sp>
      <p:cxnSp>
        <p:nvCxnSpPr>
          <p:cNvPr id="145" name="Google Shape;145;g2a2faef91665cd78_0"/>
          <p:cNvCxnSpPr>
            <a:stCxn id="144" idx="4"/>
            <a:endCxn id="116" idx="0"/>
          </p:cNvCxnSpPr>
          <p:nvPr/>
        </p:nvCxnSpPr>
        <p:spPr>
          <a:xfrm>
            <a:off x="5956825" y="1435483"/>
            <a:ext cx="0" cy="800100"/>
          </a:xfrm>
          <a:prstGeom prst="straightConnector1">
            <a:avLst/>
          </a:prstGeom>
          <a:noFill/>
          <a:ln cap="flat" cmpd="sng" w="77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g2a2faef91665cd78_0"/>
          <p:cNvCxnSpPr>
            <a:stCxn id="116" idx="1"/>
            <a:endCxn id="117" idx="0"/>
          </p:cNvCxnSpPr>
          <p:nvPr/>
        </p:nvCxnSpPr>
        <p:spPr>
          <a:xfrm flipH="1">
            <a:off x="2778463" y="2544890"/>
            <a:ext cx="2295000" cy="613200"/>
          </a:xfrm>
          <a:prstGeom prst="bentConnector2">
            <a:avLst/>
          </a:prstGeom>
          <a:noFill/>
          <a:ln cap="flat" cmpd="sng" w="77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" name="Google Shape;136;g2a2faef91665cd78_0"/>
          <p:cNvSpPr/>
          <p:nvPr/>
        </p:nvSpPr>
        <p:spPr>
          <a:xfrm>
            <a:off x="8298321" y="783049"/>
            <a:ext cx="1766700" cy="561600"/>
          </a:xfrm>
          <a:prstGeom prst="rect">
            <a:avLst/>
          </a:prstGeom>
          <a:solidFill>
            <a:srgbClr val="B4A7D6"/>
          </a:solidFill>
          <a:ln cap="flat" cmpd="sng" w="7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125" lIns="74125" spcFirstLastPara="1" rIns="74125" wrap="square" tIns="74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5"/>
              <a:t>Bioreactor Control</a:t>
            </a:r>
            <a:endParaRPr sz="1135"/>
          </a:p>
        </p:txBody>
      </p:sp>
      <p:cxnSp>
        <p:nvCxnSpPr>
          <p:cNvPr id="147" name="Google Shape;147;g2a2faef91665cd78_0"/>
          <p:cNvCxnSpPr>
            <a:stCxn id="121" idx="2"/>
            <a:endCxn id="127" idx="0"/>
          </p:cNvCxnSpPr>
          <p:nvPr/>
        </p:nvCxnSpPr>
        <p:spPr>
          <a:xfrm flipH="1" rot="-5400000">
            <a:off x="8469521" y="3666266"/>
            <a:ext cx="529800" cy="600"/>
          </a:xfrm>
          <a:prstGeom prst="bentConnector3">
            <a:avLst>
              <a:gd fmla="val 50000" name="adj1"/>
            </a:avLst>
          </a:prstGeom>
          <a:noFill/>
          <a:ln cap="flat" cmpd="sng" w="77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8" name="Google Shape;148;g2a2faef91665cd78_0"/>
          <p:cNvSpPr txBox="1"/>
          <p:nvPr/>
        </p:nvSpPr>
        <p:spPr>
          <a:xfrm>
            <a:off x="8237579" y="3582401"/>
            <a:ext cx="48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4125" lIns="74125" spcFirstLastPara="1" rIns="74125" wrap="square" tIns="7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16">
                <a:solidFill>
                  <a:schemeClr val="dk1"/>
                </a:solidFill>
              </a:rPr>
              <a:t>Yes</a:t>
            </a:r>
            <a:endParaRPr sz="121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6">
              <a:solidFill>
                <a:schemeClr val="dk1"/>
              </a:solidFill>
            </a:endParaRPr>
          </a:p>
        </p:txBody>
      </p:sp>
      <p:cxnSp>
        <p:nvCxnSpPr>
          <p:cNvPr id="149" name="Google Shape;149;g2a2faef91665cd78_0"/>
          <p:cNvCxnSpPr>
            <a:endCxn id="116" idx="3"/>
          </p:cNvCxnSpPr>
          <p:nvPr/>
        </p:nvCxnSpPr>
        <p:spPr>
          <a:xfrm rot="10800000">
            <a:off x="6840163" y="2544890"/>
            <a:ext cx="372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" name="Google Shape;150;g2a2faef91665cd78_0"/>
          <p:cNvSpPr txBox="1"/>
          <p:nvPr/>
        </p:nvSpPr>
        <p:spPr>
          <a:xfrm>
            <a:off x="1894700" y="1814250"/>
            <a:ext cx="1101900" cy="5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 u="sng">
                <a:solidFill>
                  <a:schemeClr val="dk1"/>
                </a:solidFill>
              </a:rPr>
              <a:t>Cloud</a:t>
            </a:r>
            <a:endParaRPr b="1" sz="2100" u="sng">
              <a:solidFill>
                <a:schemeClr val="dk1"/>
              </a:solidFill>
            </a:endParaRPr>
          </a:p>
        </p:txBody>
      </p:sp>
      <p:cxnSp>
        <p:nvCxnSpPr>
          <p:cNvPr id="151" name="Google Shape;151;g2a2faef91665cd78_0"/>
          <p:cNvCxnSpPr/>
          <p:nvPr/>
        </p:nvCxnSpPr>
        <p:spPr>
          <a:xfrm rot="10800000">
            <a:off x="8298321" y="2544891"/>
            <a:ext cx="0" cy="28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" name="Google Shape;124;g2a2faef91665cd78_0"/>
          <p:cNvSpPr/>
          <p:nvPr/>
        </p:nvSpPr>
        <p:spPr>
          <a:xfrm>
            <a:off x="4436931" y="5700692"/>
            <a:ext cx="2690731" cy="952648"/>
          </a:xfrm>
          <a:prstGeom prst="flowChartDecision">
            <a:avLst/>
          </a:prstGeom>
          <a:solidFill>
            <a:srgbClr val="6D9EEB"/>
          </a:solidFill>
          <a:ln cap="flat" cmpd="sng" w="77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125" lIns="74125" spcFirstLastPara="1" rIns="74125" wrap="square" tIns="74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35"/>
              <a:t>|⍙| &gt; cutoff</a:t>
            </a:r>
            <a:br>
              <a:rPr lang="en-US" sz="1135"/>
            </a:br>
            <a:r>
              <a:rPr lang="en-US" sz="1135"/>
              <a:t>start bound</a:t>
            </a:r>
            <a:endParaRPr sz="1135"/>
          </a:p>
        </p:txBody>
      </p:sp>
      <p:sp>
        <p:nvSpPr>
          <p:cNvPr id="152" name="Google Shape;152;g2a2faef91665cd78_0"/>
          <p:cNvSpPr/>
          <p:nvPr/>
        </p:nvSpPr>
        <p:spPr>
          <a:xfrm>
            <a:off x="7920775" y="3868599"/>
            <a:ext cx="1616700" cy="529800"/>
          </a:xfrm>
          <a:prstGeom prst="diamond">
            <a:avLst/>
          </a:prstGeom>
          <a:solidFill>
            <a:srgbClr val="EA9999"/>
          </a:solidFill>
          <a:ln cap="flat" cmpd="sng" w="7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35">
                <a:solidFill>
                  <a:schemeClr val="lt1"/>
                </a:solidFill>
              </a:rPr>
              <a:t>Counter ≥ 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d73406f1c_6_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58" name="Google Shape;158;g39d73406f1c_6_0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59" name="Google Shape;159;g39d73406f1c_6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1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9d73406f1c_6_0"/>
          <p:cNvSpPr txBox="1"/>
          <p:nvPr/>
        </p:nvSpPr>
        <p:spPr>
          <a:xfrm>
            <a:off x="952425" y="260475"/>
            <a:ext cx="5749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Heating Subsystem</a:t>
            </a:r>
            <a:endParaRPr sz="4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1" name="Google Shape;161;g39d73406f1c_6_0"/>
          <p:cNvSpPr txBox="1"/>
          <p:nvPr/>
        </p:nvSpPr>
        <p:spPr>
          <a:xfrm>
            <a:off x="1314225" y="1727425"/>
            <a:ext cx="5026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</a:endParaRPr>
          </a:p>
        </p:txBody>
      </p:sp>
      <p:sp>
        <p:nvSpPr>
          <p:cNvPr id="162" name="Google Shape;162;g39d73406f1c_6_0"/>
          <p:cNvSpPr txBox="1"/>
          <p:nvPr/>
        </p:nvSpPr>
        <p:spPr>
          <a:xfrm>
            <a:off x="1524000" y="37762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9d73406f1c_6_0"/>
          <p:cNvSpPr txBox="1"/>
          <p:nvPr/>
        </p:nvSpPr>
        <p:spPr>
          <a:xfrm>
            <a:off x="321100" y="3996325"/>
            <a:ext cx="574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64" name="Google Shape;164;g39d73406f1c_6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5425" y="1217675"/>
            <a:ext cx="8976574" cy="535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g39d73406f1c_6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523" y="5177149"/>
            <a:ext cx="3050000" cy="1244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9d73406f1c_6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44721" y="5493928"/>
            <a:ext cx="3839709" cy="78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9d73406f1c_6_0"/>
          <p:cNvSpPr txBox="1"/>
          <p:nvPr/>
        </p:nvSpPr>
        <p:spPr>
          <a:xfrm>
            <a:off x="1040449" y="2676075"/>
            <a:ext cx="4081200" cy="24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ay"/>
              <a:buChar char="●"/>
            </a:pPr>
            <a:r>
              <a:rPr lang="en-US" sz="19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The measurement of temperature is based on measuring resistance of the thermistor.</a:t>
            </a:r>
            <a:endParaRPr sz="19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ay"/>
              <a:buChar char="●"/>
            </a:pPr>
            <a:r>
              <a:rPr lang="en-US" sz="19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For the calculation of temperature, a reference temperature is required.</a:t>
            </a:r>
            <a:endParaRPr sz="19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d6685b5a0_0_0"/>
          <p:cNvSpPr txBox="1"/>
          <p:nvPr>
            <p:ph type="title"/>
          </p:nvPr>
        </p:nvSpPr>
        <p:spPr>
          <a:xfrm>
            <a:off x="928575" y="37400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 Subsystem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9d6685b5a0_0_0"/>
          <p:cNvSpPr txBox="1"/>
          <p:nvPr/>
        </p:nvSpPr>
        <p:spPr>
          <a:xfrm>
            <a:off x="8991525" y="543275"/>
            <a:ext cx="3006900" cy="29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pH </a:t>
            </a:r>
            <a:r>
              <a:rPr lang="en-US" sz="25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Calibration</a:t>
            </a:r>
            <a:r>
              <a:rPr lang="en-US" sz="25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:</a:t>
            </a:r>
            <a:endParaRPr sz="25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Voltage Equation:</a:t>
            </a:r>
            <a:endParaRPr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pH = m x Voltage + b</a:t>
            </a:r>
            <a:endParaRPr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where:</a:t>
            </a:r>
            <a:endParaRPr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 = (pH1-pH2) / (V1-V2)</a:t>
            </a:r>
            <a:endParaRPr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b = pH1 - m x V1</a:t>
            </a:r>
            <a:endParaRPr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Glass pH probe </a:t>
            </a:r>
            <a:r>
              <a:rPr lang="en-US" sz="15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(</a:t>
            </a:r>
            <a:r>
              <a:rPr lang="en-US" sz="1500">
                <a:solidFill>
                  <a:srgbClr val="1A1A1A"/>
                </a:solidFill>
                <a:highlight>
                  <a:srgbClr val="FFFFFF"/>
                </a:highlight>
                <a:latin typeface="Play"/>
                <a:ea typeface="Play"/>
                <a:cs typeface="Play"/>
                <a:sym typeface="Play"/>
              </a:rPr>
              <a:t>PH-100ATC)</a:t>
            </a:r>
            <a:r>
              <a:rPr lang="en-US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,  </a:t>
            </a:r>
            <a:r>
              <a:rPr lang="en-US" sz="17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±0.05 pH accuracy after </a:t>
            </a:r>
            <a:r>
              <a:rPr lang="en-US" sz="17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calibration.</a:t>
            </a:r>
            <a:endParaRPr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74" name="Google Shape;174;g39d6685b5a0_0_0"/>
          <p:cNvSpPr txBox="1"/>
          <p:nvPr/>
        </p:nvSpPr>
        <p:spPr>
          <a:xfrm>
            <a:off x="11420550" y="4985500"/>
            <a:ext cx="914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75" name="Google Shape;175;g39d6685b5a0_0_0"/>
          <p:cNvSpPr txBox="1"/>
          <p:nvPr/>
        </p:nvSpPr>
        <p:spPr>
          <a:xfrm>
            <a:off x="113400" y="4049000"/>
            <a:ext cx="7013100" cy="21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pH Control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To keep the pH value as close to the biologically optimal target value we use a PID (Proportional-Integral-Derivative) control algorithm, with a deadband of ±0.2 pH units to prevent oscillation. This allows stability within ±0.2 pH of the target value (approximately 5.5pH for optimal microbial growth) and prevents frequent pump switching. </a:t>
            </a:r>
            <a:endParaRPr sz="25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76" name="Google Shape;176;g39d6685b5a0_0_0"/>
          <p:cNvPicPr preferRelativeResize="0"/>
          <p:nvPr/>
        </p:nvPicPr>
        <p:blipFill rotWithShape="1">
          <a:blip r:embed="rId4">
            <a:alphaModFix/>
          </a:blip>
          <a:srcRect b="0" l="5719" r="6959" t="11629"/>
          <a:stretch/>
        </p:blipFill>
        <p:spPr>
          <a:xfrm>
            <a:off x="7014175" y="3628250"/>
            <a:ext cx="4417575" cy="2980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39d6685b5a0_0_0" title="pH subsystem block diagram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8575" y="1699700"/>
            <a:ext cx="7659801" cy="153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9d6685b5a0_0_0"/>
          <p:cNvSpPr txBox="1"/>
          <p:nvPr/>
        </p:nvSpPr>
        <p:spPr>
          <a:xfrm>
            <a:off x="3174350" y="2403700"/>
            <a:ext cx="1935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pH and pump actions logged every 5s to ESP32/Server with timestamps for monitoring.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d73406f1c_1_0"/>
          <p:cNvSpPr txBox="1"/>
          <p:nvPr>
            <p:ph type="title"/>
          </p:nvPr>
        </p:nvSpPr>
        <p:spPr>
          <a:xfrm>
            <a:off x="925550" y="186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Stirring Subsystem</a:t>
            </a:r>
            <a:endParaRPr/>
          </a:p>
        </p:txBody>
      </p:sp>
      <p:sp>
        <p:nvSpPr>
          <p:cNvPr id="184" name="Google Shape;184;g39d73406f1c_1_0"/>
          <p:cNvSpPr txBox="1"/>
          <p:nvPr/>
        </p:nvSpPr>
        <p:spPr>
          <a:xfrm>
            <a:off x="858400" y="1577475"/>
            <a:ext cx="5350800" cy="139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5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Material List:</a:t>
            </a:r>
            <a:endParaRPr sz="185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Play"/>
              <a:buChar char="-"/>
            </a:pPr>
            <a:r>
              <a:rPr b="1" lang="en-US" sz="145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Controller </a:t>
            </a:r>
            <a:r>
              <a:rPr lang="en-US" sz="145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ESP32 Nano*</a:t>
            </a:r>
            <a:endParaRPr sz="145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Play"/>
              <a:buChar char="-"/>
            </a:pPr>
            <a:r>
              <a:rPr b="1" lang="en-US" sz="145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Motor</a:t>
            </a:r>
            <a:r>
              <a:rPr lang="en-US" sz="145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b="1" lang="en-US" sz="145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&amp; Stirring</a:t>
            </a:r>
            <a:r>
              <a:rPr lang="en-US" sz="145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U</a:t>
            </a:r>
            <a:r>
              <a:rPr lang="en-US" sz="145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 to 10,000 RPM, </a:t>
            </a:r>
            <a:r>
              <a:rPr lang="en-US" sz="145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10:1 gear ratio for effective stirring</a:t>
            </a:r>
            <a:endParaRPr sz="145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Play"/>
              <a:buChar char="-"/>
            </a:pPr>
            <a:r>
              <a:rPr b="1" lang="en-US" sz="145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MOSFET</a:t>
            </a:r>
            <a:r>
              <a:rPr lang="en-US" sz="145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&gt;&gt;1A for PWM management between 0-5V, e.g. with a PI controller</a:t>
            </a:r>
            <a:endParaRPr sz="145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Play"/>
              <a:buChar char="-"/>
            </a:pPr>
            <a:r>
              <a:rPr b="1" lang="en-US" sz="145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Hall Sensor </a:t>
            </a:r>
            <a:r>
              <a:rPr lang="en-US" sz="145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70 pulses per revolution, 1000 RPM -&gt; 1167 pulses/s</a:t>
            </a:r>
            <a:endParaRPr sz="145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Play"/>
              <a:buChar char="-"/>
            </a:pPr>
            <a:r>
              <a:rPr b="1" lang="en-US" sz="145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5V Power Supply</a:t>
            </a:r>
            <a:endParaRPr b="1" sz="145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5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Additional Materials:</a:t>
            </a:r>
            <a:endParaRPr b="1" sz="145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Play"/>
              <a:buChar char="-"/>
            </a:pPr>
            <a:r>
              <a:rPr b="1" lang="en-US" sz="145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Cabling </a:t>
            </a:r>
            <a:r>
              <a:rPr lang="en-US" sz="145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(reasonably short)</a:t>
            </a:r>
            <a:endParaRPr sz="145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Play"/>
              <a:buChar char="-"/>
            </a:pPr>
            <a:r>
              <a:rPr b="1" lang="en-US" sz="145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Capacitor</a:t>
            </a:r>
            <a:r>
              <a:rPr lang="en-US" sz="145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470 uF </a:t>
            </a:r>
            <a:endParaRPr sz="145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Play"/>
              <a:buChar char="-"/>
            </a:pPr>
            <a:r>
              <a:rPr b="1" lang="en-US" sz="145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Flyback diode</a:t>
            </a:r>
            <a:endParaRPr sz="145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85" name="Google Shape;185;g39d73406f1c_1_0"/>
          <p:cNvSpPr txBox="1"/>
          <p:nvPr/>
        </p:nvSpPr>
        <p:spPr>
          <a:xfrm>
            <a:off x="377350" y="6020150"/>
            <a:ext cx="9652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*</a:t>
            </a:r>
            <a:r>
              <a:rPr b="1" lang="en-US" sz="145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Controller</a:t>
            </a:r>
            <a:r>
              <a:rPr lang="en-US" sz="145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will record </a:t>
            </a:r>
            <a:r>
              <a:rPr b="1" lang="en-US" sz="145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RPM information regularly </a:t>
            </a:r>
            <a:r>
              <a:rPr lang="en-US" sz="145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and transmit that for data logging, monitoring and analysis</a:t>
            </a:r>
            <a:endParaRPr sz="145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86" name="Google Shape;186;g39d73406f1c_1_0" title="Stirring block diagram (6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2300" y="1664225"/>
            <a:ext cx="4613455" cy="420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2025-10-22T10:27:32Z</dcterms:created>
  <dc:creator>Cam, Omer</dc:creator>
</cp:coreProperties>
</file>